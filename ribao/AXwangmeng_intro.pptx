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网盟是什么？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—— 入门指南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广告主 · 平台 · 渠道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广告主出钱 ──→ 平台撮合 ──→ 渠道给流量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🅰️  广告主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14400" y="2560320"/>
            <a:ext cx="31089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rPr lang="zh-CN"/>
              <a:t>预算（</a:t>
            </a:r>
            <a:r>
              <a:rPr lang="en-US" altLang="zh-CN"/>
              <a:t>adv</a:t>
            </a:r>
            <a:r>
              <a:rPr lang="zh-CN"/>
              <a:t>）</a:t>
            </a:r>
            <a:endParaRPr lang="zh-CN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14400" y="3291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需要拉客，愿意出钱</a:t>
            </a: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4480559" y="146304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🅾️  平台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663440" y="2560320"/>
            <a:ext cx="31089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中介</a:t>
            </a:r>
            <a:r>
              <a:rPr lang="zh-CN"/>
              <a:t>（我们）</a:t>
            </a:r>
            <a:endParaRPr lang="zh-CN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663440" y="3291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撮合老板和渠道，抽服务费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229600" y="146304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🅱️  渠道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412480" y="2560320"/>
            <a:ext cx="31089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rPr lang="zh-CN"/>
              <a:t>流量方（渠道</a:t>
            </a:r>
            <a:r>
              <a:rPr lang="en-US" altLang="zh-CN"/>
              <a:t>pub</a:t>
            </a:r>
            <a:r>
              <a:rPr lang="zh-CN"/>
              <a:t>）</a:t>
            </a:r>
            <a:endParaRPr lang="zh-CN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8412480" y="3291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手里有客流，展示广告收钱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69848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(广告主)找中介(平台)</a:t>
            </a:r>
            <a:r>
              <a:rPr lang="zh-CN"/>
              <a:t>买流量</a:t>
            </a:r>
            <a:r>
              <a:t>(渠道) → 拉客进店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三方角色速览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干什么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 KPI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举例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🅰️  广告主 (Advertiser)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出钱投 Offer，换新用户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Payout（花费）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🎮游戏  🛍️电商  💲AI聊天  📱工具App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🅱️  渠道 (Publisher)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给流量，展示广告收钱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Revenue（收入）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🎮休闲游戏  📰新闻App  ⚙️工具App  📺视频App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🅾️  平台 (Network)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撮合 + 看数据 + 控质量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毛利（差价）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居中运营，数据驱动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一个 Offer 的旅程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① 广告主发布 Offer  →  ② 平台上线  →  ③ 渠道投放  →  ④ 用户转化  →  ⑤ 数据</a:t>
            </a:r>
            <a:r>
              <a:rPr lang="zh-CN"/>
              <a:t>回传</a:t>
            </a:r>
            <a:r>
              <a:t>  →  ⑥ </a:t>
            </a:r>
            <a:r>
              <a:rPr lang="zh-CN"/>
              <a:t>广告主</a:t>
            </a:r>
            <a:r>
              <a:t>结算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A37F"/>
                </a:solidFill>
                <a:latin typeface="微软雅黑" panose="020B0503020204020204" charset="-122"/>
              </a:defRPr>
            </a:pPr>
            <a:r>
              <a:t>平台内部团队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💰收益管理  📊数据分析  🛡️风控质控  🔧技术平台  📈策略增长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钱是怎么流的？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🅰️  广告主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出钱投 Offer</a:t>
            </a: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4754880" y="182880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🅾️  平台</a:t>
            </a: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47548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撮合 + 赚差价</a:t>
            </a:r>
          </a:p>
        </p:txBody>
      </p:sp>
      <p:sp>
        <p:nvSpPr>
          <p:cNvPr id="10" name="Rounded Rectangle 9"/>
          <p:cNvSpPr/>
          <p:nvPr>
            <p:custDataLst>
              <p:tags r:id="rId3"/>
            </p:custDataLst>
          </p:nvPr>
        </p:nvSpPr>
        <p:spPr>
          <a:xfrm>
            <a:off x="8595360" y="182880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A37F"/>
                </a:solidFill>
                <a:latin typeface="微软雅黑" panose="020B0503020204020204" charset="-122"/>
              </a:defRPr>
            </a:pPr>
            <a:r>
              <a:t>🅱️  渠道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8595360" y="2560320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rPr lang="zh-CN"/>
              <a:t>提供</a:t>
            </a:r>
            <a:r>
              <a:t>流量收钱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36576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14C32"/>
                </a:solidFill>
                <a:latin typeface="微软雅黑" panose="020B0503020204020204" charset="-122"/>
              </a:defRPr>
            </a:pPr>
            <a:r>
              <a:t>Payout .00</a:t>
            </a:r>
            <a:br/>
            <a:r>
              <a:t>───→</a:t>
            </a: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7498079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A37F"/>
                </a:solidFill>
                <a:latin typeface="微软雅黑" panose="020B0503020204020204" charset="-122"/>
              </a:defRPr>
            </a:pPr>
            <a:r>
              <a:t>Revenue .40</a:t>
            </a:r>
            <a:br/>
            <a:r>
              <a:t>───→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389120"/>
            <a:ext cx="5852160" cy="1371600"/>
          </a:xfrm>
          <a:prstGeom prst="roundRect">
            <a:avLst/>
          </a:prstGeom>
          <a:solidFill>
            <a:srgbClr val="F0F3F7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480560"/>
            <a:ext cx="54864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💰  毛利 =  Revenue</a:t>
            </a:r>
            <a:r>
              <a:rPr lang="en-US"/>
              <a:t>-</a:t>
            </a:r>
            <a:r>
              <a:rPr>
                <a:sym typeface="+mn-ea"/>
              </a:rPr>
              <a:t>Payout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38328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.00 - .40 = .60 / 次</a:t>
            </a:r>
            <a:br/>
            <a:r>
              <a:t>1000 次转化 × .60 =  毛利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流量怎么传的？—— 事件回传逻辑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94360"/>
          </a:xfrm>
          <a:prstGeom prst="roundRect">
            <a:avLst/>
          </a:prstGeom>
          <a:solidFill>
            <a:srgbClr val="F0F3F7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①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143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用户点击广告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5029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② Redirect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5623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跳转应用商店（越短越好）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23744"/>
            <a:ext cx="5029200" cy="594360"/>
          </a:xfrm>
          <a:prstGeom prst="roundRect">
            <a:avLst/>
          </a:prstGeom>
          <a:solidFill>
            <a:srgbClr val="F0F3F7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9463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③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69463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下载安装，首次打开 → MMP 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36976"/>
            <a:ext cx="5029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826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④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826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转化：注册/下单/充值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50208"/>
            <a:ext cx="5029200" cy="594360"/>
          </a:xfrm>
          <a:prstGeom prst="roundRect">
            <a:avLst/>
          </a:prstGeom>
          <a:solidFill>
            <a:srgbClr val="F0F3F7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959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⑤ Callback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959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MMP 回传平台，触发计费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5029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⑥ Reject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709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质检：劣质拒绝 / 合格通过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完整链路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📱 [用户看广告]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│  Click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▼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🏪 [跳转商店]  1-2 跳最佳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│  Install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▼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📲 [首次打开]  MMP 记录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│  Event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▼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✅ [转化完成]  归因判断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│  Postback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▼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🗄️ [平台入库]  Revenue + Payout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│  质检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    ▼</a:t>
            </a:r>
          </a:p>
          <a:p>
            <a:pPr>
              <a:spcAft>
                <a:spcPts val="200"/>
              </a:spcAft>
              <a:defRPr sz="130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✔️ Pass  or  ❌ Reject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流量越近，质量越高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914400" y="118872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88720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  <a:latin typeface="微软雅黑" panose="020B0503020204020204" charset="-122"/>
              </a:defRPr>
            </a:pPr>
            <a:r>
              <a:t>⭐ 最优 — 1 层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18872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自有 App 流量（SDK 植入）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5029200" y="1371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CVR 高，Reject Rate 低，用户真实可控</a:t>
            </a: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914400" y="237744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18872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✅ 尚可 — 2 层</a:t>
            </a: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1188720" y="2816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直签渠道（无中间商）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5029200" y="2560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可管控，可谈价，可拿详细数据</a:t>
            </a: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914400" y="356616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1188720" y="3639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⚠️ 一般 — 3 层</a:t>
            </a: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1188720" y="4005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二级 / DSP 聚合流量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029200" y="3749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量大但不稳，CVR 偏低，可能掺假量</a:t>
            </a:r>
          </a:p>
        </p:txBody>
      </p:sp>
      <p:sp>
        <p:nvSpPr>
          <p:cNvPr id="16" name="Rounded Rectangle 15"/>
          <p:cNvSpPr/>
          <p:nvPr>
            <p:custDataLst>
              <p:tags r:id="rId13"/>
            </p:custDataLst>
          </p:nvPr>
        </p:nvSpPr>
        <p:spPr>
          <a:xfrm>
            <a:off x="914400" y="475488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14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1188720" y="4828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4C32"/>
                </a:solidFill>
                <a:latin typeface="微软雅黑" panose="020B0503020204020204" charset="-122"/>
              </a:defRPr>
            </a:pPr>
            <a:r>
              <a:t>❌ 警惕 — 4 层+</a:t>
            </a: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1188720" y="5193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多次转售，源头不明</a:t>
            </a: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5029200" y="4937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Reject Rate 高，用户重复，完全不可控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D1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转手次数越多 → 质量越低 → 拒付率越高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怎么运营才能多赚钱？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914400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✅  什么是「好 Offer」？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跳转链路短（1-2 跳直达商店）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包体小 / 下载快（轻量 App 转化率高）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7548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KPI 门槛低（</a:t>
            </a:r>
            <a:r>
              <a:rPr lang="zh-CN"/>
              <a:t>安装</a:t>
            </a:r>
            <a:r>
              <a:rPr lang="en-US" altLang="zh-CN"/>
              <a:t>cpi</a:t>
            </a:r>
            <a:r>
              <a:t>即可，非要求</a:t>
            </a:r>
            <a:r>
              <a:rPr>
                <a:sym typeface="+mn-ea"/>
              </a:rPr>
              <a:t>注册</a:t>
            </a:r>
            <a:r>
              <a:rPr lang="zh-CN">
                <a:sym typeface="+mn-ea"/>
              </a:rPr>
              <a:t>、</a:t>
            </a:r>
            <a:r>
              <a:t>付费）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目标国家匹配渠道用户画像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47548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91440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✅  什么是「好流量」？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用户真实（非模拟器、非批量注册）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来源可控（能追踪用户从哪个 App/国家来）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7548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12B"/>
                </a:solidFill>
                <a:latin typeface="微软雅黑" panose="020B0503020204020204" charset="-122"/>
              </a:defRPr>
            </a:pPr>
            <a:r>
              <a:t>▸  转化稳定（CVR 波动不大，Reject Rate &lt; </a:t>
            </a:r>
            <a:r>
              <a:rPr lang="en-US"/>
              <a:t>5</a:t>
            </a:r>
            <a:r>
              <a:t>%）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188720"/>
          </a:xfrm>
          <a:prstGeom prst="roundRect">
            <a:avLst/>
          </a:prstGeom>
          <a:solidFill>
            <a:srgbClr val="F0F3F7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衡量 Offer 好坏的简易公式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好 Offer = 短链路 × 小包体 × 低门槛 × 匹配用户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F6FED"/>
                </a:solidFill>
                <a:latin typeface="微软雅黑" panose="020B0503020204020204" charset="-122"/>
              </a:defRPr>
            </a:pPr>
            <a:r>
              <a:t>核心指标速查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英文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谁关注的</a:t>
                      </a:r>
                    </a:p>
                  </a:txBody>
                  <a:tcPr>
                    <a:solidFill>
                      <a:srgbClr val="2F6F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广告主</a:t>
                      </a:r>
                      <a:r>
                        <a:t>付给</a:t>
                      </a:r>
                      <a:r>
                        <a:rPr lang="zh-CN"/>
                        <a:t>我</a:t>
                      </a:r>
                      <a:r>
                        <a:t>的钱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渠道 / 财务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支出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Payout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我</a:t>
                      </a:r>
                      <a:r>
                        <a:t>付给</a:t>
                      </a:r>
                      <a:r>
                        <a:rPr lang="zh-CN"/>
                        <a:t>下游渠道</a:t>
                      </a:r>
                      <a:r>
                        <a:t>的钱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广告主 / 财务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毛利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Revenue</a:t>
                      </a:r>
                      <a:r>
                        <a:rPr lang="en-US"/>
                        <a:t>-</a:t>
                      </a:r>
                      <a:r>
                        <a:rPr sz="1200">
                          <a:sym typeface="+mn-ea"/>
                        </a:rPr>
                        <a:t>Payout 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平台 / 老板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Margin 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sym typeface="+mn-ea"/>
                        </a:rPr>
                        <a:t>Revenue</a:t>
                      </a:r>
                      <a:r>
                        <a:rPr lang="en-US" sz="1200">
                          <a:sym typeface="+mn-ea"/>
                        </a:rPr>
                        <a:t>-</a:t>
                      </a:r>
                      <a:r>
                        <a:rPr sz="1200">
                          <a:sym typeface="+mn-ea"/>
                        </a:rPr>
                        <a:t>Payout</a:t>
                      </a:r>
                      <a:r>
                        <a:rPr lang="en-US" sz="1200">
                          <a:sym typeface="+mn-ea"/>
                        </a:rPr>
                        <a:t>/</a:t>
                      </a:r>
                      <a:r>
                        <a:rPr sz="1200">
                          <a:sym typeface="+mn-ea"/>
                        </a:rPr>
                        <a:t>Revenue</a:t>
                      </a:r>
                      <a:r>
                        <a:rPr lang="en-US" sz="1200">
                          <a:sym typeface="+mn-ea"/>
                        </a:rPr>
                        <a:t>*100%</a:t>
                      </a:r>
                      <a:endParaRPr lang="en-US" sz="1200">
                        <a:sym typeface="+mn-ea"/>
                      </a:endParaRP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老板 / 分析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点击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广告被点击次数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转化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Conversion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完成下载/注册/购买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广告主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转化率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Conversion ÷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运营 / 广告主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拒绝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被判定劣质而拒付的转化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质控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拒绝率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Reject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Reject ÷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7212B"/>
                          </a:solidFill>
                          <a:latin typeface="微软雅黑" panose="020B0503020204020204" charset="-122"/>
                        </a:defRPr>
                      </a:pPr>
                      <a:r>
                        <a:t>风控 / 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记住三点</a:t>
            </a: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广告主出钱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2286000" y="2560320"/>
            <a:ext cx="75895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看 </a:t>
            </a:r>
            <a:r>
              <a:rPr>
                <a:sym typeface="+mn-ea"/>
              </a:rPr>
              <a:t>Revenue</a:t>
            </a:r>
            <a:r>
              <a:t>、CVR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2286000" y="32004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 渠道给流量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2286000" y="3657600"/>
            <a:ext cx="75895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看 </a:t>
            </a:r>
            <a:r>
              <a:rPr>
                <a:sym typeface="+mn-ea"/>
              </a:rPr>
              <a:t>Payout</a:t>
            </a:r>
            <a:r>
              <a:t>、eCPM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2286000" y="429767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③  平台赚差价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2286000" y="475487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2A900"/>
                </a:solidFill>
                <a:latin typeface="微软雅黑" panose="020B0503020204020204" charset="-122"/>
              </a:defRPr>
            </a:pPr>
            <a:r>
              <a:t>看 毛利（Margin）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广告主要用户 + 渠道要收入 + 平台要差价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7080"/>
                </a:solidFill>
                <a:latin typeface="微软雅黑" panose="020B0503020204020204" charset="-122"/>
              </a:defRPr>
            </a:pPr>
            <a:r>
              <a:t>三方各取所需，循环运转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2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3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4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5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6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7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8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9.xml><?xml version="1.0" encoding="utf-8"?>
<p:tagLst xmlns:p="http://schemas.openxmlformats.org/presentationml/2006/main">
  <p:tag name="KSO_WM_DIAGRAM_VIRTUALLY_FRAME" val="{&quot;height&quot;:302.4,&quot;left&quot;:57.6,&quot;top&quot;:115.2,&quot;width&quot;:864}"/>
</p:tagLst>
</file>

<file path=ppt/tags/tag10.xml><?xml version="1.0" encoding="utf-8"?>
<p:tagLst xmlns:p="http://schemas.openxmlformats.org/presentationml/2006/main">
  <p:tag name="KSO_WM_DIAGRAM_VIRTUALLY_FRAME" val="{&quot;height&quot;:144,&quot;left&quot;:288,&quot;top&quot;:144,&quot;width&quot;:604.8}"/>
</p:tagLst>
</file>

<file path=ppt/tags/tag11.xml><?xml version="1.0" encoding="utf-8"?>
<p:tagLst xmlns:p="http://schemas.openxmlformats.org/presentationml/2006/main">
  <p:tag name="KSO_WM_DIAGRAM_VIRTUALLY_FRAME" val="{&quot;height&quot;:144,&quot;left&quot;:288,&quot;top&quot;:144,&quot;width&quot;:604.8}"/>
</p:tagLst>
</file>

<file path=ppt/tags/tag12.xml><?xml version="1.0" encoding="utf-8"?>
<p:tagLst xmlns:p="http://schemas.openxmlformats.org/presentationml/2006/main">
  <p:tag name="KSO_WM_DIAGRAM_VIRTUALLY_FRAME" val="{&quot;height&quot;:144,&quot;left&quot;:288,&quot;top&quot;:144,&quot;width&quot;:604.8}"/>
</p:tagLst>
</file>

<file path=ppt/tags/tag13.xml><?xml version="1.0" encoding="utf-8"?>
<p:tagLst xmlns:p="http://schemas.openxmlformats.org/presentationml/2006/main">
  <p:tag name="KSO_WM_DIAGRAM_VIRTUALLY_FRAME" val="{&quot;height&quot;:144,&quot;left&quot;:288,&quot;top&quot;:144,&quot;width&quot;:604.8}"/>
</p:tagLst>
</file>

<file path=ppt/tags/tag14.xml><?xml version="1.0" encoding="utf-8"?>
<p:tagLst xmlns:p="http://schemas.openxmlformats.org/presentationml/2006/main">
  <p:tag name="KSO_WM_DIAGRAM_VIRTUALLY_FRAME" val="{&quot;height&quot;:144,&quot;left&quot;:288,&quot;top&quot;:144,&quot;width&quot;:604.8}"/>
</p:tagLst>
</file>

<file path=ppt/tags/tag15.xml><?xml version="1.0" encoding="utf-8"?>
<p:tagLst xmlns:p="http://schemas.openxmlformats.org/presentationml/2006/main">
  <p:tag name="KSO_WM_DIAGRAM_VIRTUALLY_FRAME" val="{&quot;height&quot;:144,&quot;left&quot;:288,&quot;top&quot;:144,&quot;width&quot;:604.8}"/>
</p:tagLst>
</file>

<file path=ppt/tags/tag16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17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18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19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0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1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2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3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4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5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6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7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8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29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30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31.xml><?xml version="1.0" encoding="utf-8"?>
<p:tagLst xmlns:p="http://schemas.openxmlformats.org/presentationml/2006/main">
  <p:tag name="KSO_WM_DIAGRAM_VIRTUALLY_FRAME" val="{&quot;height&quot;:360,&quot;left&quot;:72,&quot;top&quot;:93.6,&quot;width&quot;:813.6}"/>
</p:tagLst>
</file>

<file path=ppt/tags/tag32.xml><?xml version="1.0" encoding="utf-8"?>
<p:tagLst xmlns:p="http://schemas.openxmlformats.org/presentationml/2006/main">
  <p:tag name="KSO_WM_DIAGRAM_VIRTUALLY_FRAME" val="{&quot;height&quot;:244.79992125984245,&quot;left&quot;:180,&quot;top&quot;:165.6,&quot;width&quot;:597.6}"/>
</p:tagLst>
</file>

<file path=ppt/tags/tag33.xml><?xml version="1.0" encoding="utf-8"?>
<p:tagLst xmlns:p="http://schemas.openxmlformats.org/presentationml/2006/main">
  <p:tag name="KSO_WM_DIAGRAM_VIRTUALLY_FRAME" val="{&quot;height&quot;:244.79992125984245,&quot;left&quot;:180,&quot;top&quot;:165.6,&quot;width&quot;:597.6}"/>
</p:tagLst>
</file>

<file path=ppt/tags/tag34.xml><?xml version="1.0" encoding="utf-8"?>
<p:tagLst xmlns:p="http://schemas.openxmlformats.org/presentationml/2006/main">
  <p:tag name="KSO_WM_DIAGRAM_VIRTUALLY_FRAME" val="{&quot;height&quot;:244.79992125984245,&quot;left&quot;:180,&quot;top&quot;:165.6,&quot;width&quot;:597.6}"/>
</p:tagLst>
</file>

<file path=ppt/tags/tag35.xml><?xml version="1.0" encoding="utf-8"?>
<p:tagLst xmlns:p="http://schemas.openxmlformats.org/presentationml/2006/main">
  <p:tag name="KSO_WM_DIAGRAM_VIRTUALLY_FRAME" val="{&quot;height&quot;:244.79992125984245,&quot;left&quot;:180,&quot;top&quot;:165.6,&quot;width&quot;:597.6}"/>
</p:tagLst>
</file>

<file path=ppt/tags/tag36.xml><?xml version="1.0" encoding="utf-8"?>
<p:tagLst xmlns:p="http://schemas.openxmlformats.org/presentationml/2006/main">
  <p:tag name="KSO_WM_DIAGRAM_VIRTUALLY_FRAME" val="{&quot;height&quot;:244.79992125984245,&quot;left&quot;:180,&quot;top&quot;:165.6,&quot;width&quot;:597.6}"/>
</p:tagLst>
</file>

<file path=ppt/tags/tag37.xml><?xml version="1.0" encoding="utf-8"?>
<p:tagLst xmlns:p="http://schemas.openxmlformats.org/presentationml/2006/main">
  <p:tag name="KSO_WM_DIAGRAM_VIRTUALLY_FRAME" val="{&quot;height&quot;:244.79992125984245,&quot;left&quot;:180,&quot;top&quot;:165.6,&quot;width&quot;:59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WPS 演示</Application>
  <PresentationFormat>On-screen Show (4:3)</PresentationFormat>
  <Paragraphs>291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大伟</cp:lastModifiedBy>
  <cp:revision>3</cp:revision>
  <dcterms:created xsi:type="dcterms:W3CDTF">2013-01-27T09:14:00Z</dcterms:created>
  <dcterms:modified xsi:type="dcterms:W3CDTF">2026-08-06T06:37:02Z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44AD2FC4B4014C1885A46652A6D2CA5A_12</vt:lpwstr>
  </property>
</Properties>
</file>